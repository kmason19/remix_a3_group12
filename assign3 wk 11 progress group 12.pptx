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0" r:id="rId5"/>
  </p:sldMasterIdLst>
  <p:notesMasterIdLst>
    <p:notesMasterId r:id="rId13"/>
  </p:notesMasterIdLst>
  <p:handoutMasterIdLst>
    <p:handoutMasterId r:id="rId14"/>
  </p:handoutMasterIdLst>
  <p:sldIdLst>
    <p:sldId id="270" r:id="rId6"/>
    <p:sldId id="271" r:id="rId7"/>
    <p:sldId id="272" r:id="rId8"/>
    <p:sldId id="277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65E"/>
    <a:srgbClr val="FF7E79"/>
    <a:srgbClr val="0A1533"/>
    <a:srgbClr val="00061A"/>
    <a:srgbClr val="F2ECE5"/>
    <a:srgbClr val="6C98C7"/>
    <a:srgbClr val="000000"/>
    <a:srgbClr val="000619"/>
    <a:srgbClr val="09377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A8F62-7D1D-403B-A1EB-94D0A68BCFFB}" v="1239" dt="2026-05-14T21:03:50.147"/>
    <p1510:client id="{E4AF0B17-C049-DD07-111F-BB83C49FE749}" v="928" dt="2026-05-14T13:31:45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24" y="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3E049B-39F8-44D4-9B8F-42AD3D16F7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CFE28-325F-4C3C-8F0D-A0AE517A97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F9AD-7D37-4888-8B9B-781FD21B16BF}" type="datetimeFigureOut">
              <a:rPr lang="en-AU" smtClean="0"/>
              <a:t>15/05/2026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CE3B7-0672-4B57-9D30-D10D7E5C51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F396D-B88A-41A2-AA38-FD006DE099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FDE8F-C651-4379-A3B3-52F461E282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53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9A025-9A62-48B8-80D3-02C5887C5AA6}" type="datetimeFigureOut">
              <a:rPr lang="en-AU" smtClean="0"/>
              <a:t>15/05/2026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ED44F-8DE0-4245-B02B-CC95FDAC3E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93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map&#10;&#10;AI-generated content may be incorrect.">
            <a:extLst>
              <a:ext uri="{FF2B5EF4-FFF2-40B4-BE49-F238E27FC236}">
                <a16:creationId xmlns:a16="http://schemas.microsoft.com/office/drawing/2014/main" id="{93418D29-4639-05ED-D966-2DA6B8A9CAA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E7D867A-A074-7690-D36E-A0E114D0B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420" y="5604510"/>
            <a:ext cx="7380287" cy="9334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department, faculty or division name here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35D959A-5FBB-13CC-FAF8-4B34E5E8A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7420" y="5239156"/>
            <a:ext cx="7380370" cy="392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edit: Add your team or unit name here</a:t>
            </a:r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B1BBA0-2C0C-55CC-86CE-C303784ED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420" y="3252427"/>
            <a:ext cx="7380370" cy="190484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edit: Presentation Title</a:t>
            </a:r>
            <a:endParaRPr lang="en-AU"/>
          </a:p>
        </p:txBody>
      </p:sp>
      <p:sp>
        <p:nvSpPr>
          <p:cNvPr id="6" name="TextBox 5" descr="CRICOS No. 00213J">
            <a:extLst>
              <a:ext uri="{FF2B5EF4-FFF2-40B4-BE49-F238E27FC236}">
                <a16:creationId xmlns:a16="http://schemas.microsoft.com/office/drawing/2014/main" id="{D70E8C15-37D2-93CF-B51A-F6E3F6A44E14}"/>
              </a:ext>
            </a:extLst>
          </p:cNvPr>
          <p:cNvSpPr txBox="1">
            <a:spLocks/>
          </p:cNvSpPr>
          <p:nvPr userDrawn="1"/>
        </p:nvSpPr>
        <p:spPr>
          <a:xfrm>
            <a:off x="8575210" y="6537960"/>
            <a:ext cx="3176015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600">
                <a:solidFill>
                  <a:schemeClr val="bg1">
                    <a:lumMod val="85000"/>
                  </a:schemeClr>
                </a:solidFill>
              </a:rPr>
              <a:t>TEQSA Provider ID PRV12079  Australian University | CRICOS No.00213J</a:t>
            </a:r>
          </a:p>
        </p:txBody>
      </p:sp>
    </p:spTree>
    <p:extLst>
      <p:ext uri="{BB962C8B-B14F-4D97-AF65-F5344CB8AC3E}">
        <p14:creationId xmlns:p14="http://schemas.microsoft.com/office/powerpoint/2010/main" val="3524946134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A3CD8D44-9064-673E-4846-8E323AF8DDA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E1C8AA1-7D58-D161-041D-B1D280B9D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5375" y="4308145"/>
            <a:ext cx="7380287" cy="9334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department, faculty or division name here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5F1638-3D96-5E6D-BCBA-D86CB9D30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5375" y="3942791"/>
            <a:ext cx="7380370" cy="392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edit: Add your team or unit name here</a:t>
            </a:r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1F440D-A16F-2160-4C2F-2290BE509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5375" y="1956062"/>
            <a:ext cx="7380370" cy="190484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edit: Presentation Title</a:t>
            </a:r>
            <a:endParaRPr lang="en-AU"/>
          </a:p>
        </p:txBody>
      </p:sp>
      <p:sp>
        <p:nvSpPr>
          <p:cNvPr id="8" name="TextBox 7" descr="CRICOS No. 00213J">
            <a:extLst>
              <a:ext uri="{FF2B5EF4-FFF2-40B4-BE49-F238E27FC236}">
                <a16:creationId xmlns:a16="http://schemas.microsoft.com/office/drawing/2014/main" id="{29475686-1C99-DB35-38B7-86B66D7ADFD0}"/>
              </a:ext>
            </a:extLst>
          </p:cNvPr>
          <p:cNvSpPr txBox="1">
            <a:spLocks/>
          </p:cNvSpPr>
          <p:nvPr userDrawn="1"/>
        </p:nvSpPr>
        <p:spPr>
          <a:xfrm>
            <a:off x="8575210" y="6537960"/>
            <a:ext cx="3176015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600">
                <a:solidFill>
                  <a:schemeClr val="bg1">
                    <a:lumMod val="85000"/>
                  </a:schemeClr>
                </a:solidFill>
              </a:rPr>
              <a:t>TEQSA Provider ID PRV12079  Australian University | CRICOS No.00213J</a:t>
            </a:r>
          </a:p>
        </p:txBody>
      </p:sp>
    </p:spTree>
    <p:extLst>
      <p:ext uri="{BB962C8B-B14F-4D97-AF65-F5344CB8AC3E}">
        <p14:creationId xmlns:p14="http://schemas.microsoft.com/office/powerpoint/2010/main" val="3611827443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C7AD6566-D794-6ED0-B1E5-BD8258764C4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E05C0E0-69A4-2EB9-AE19-145F6CF5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119" y="4337914"/>
            <a:ext cx="7380287" cy="9334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department, faculty or division name here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03C3E7A-3929-4FA8-16E2-6EA315A80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119" y="3972560"/>
            <a:ext cx="7380370" cy="392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edit: Add your team or unit name here</a:t>
            </a:r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74FDB-7073-6BF2-247D-2662ECB56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119" y="1985831"/>
            <a:ext cx="7380370" cy="190484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edit: Presentation Title</a:t>
            </a:r>
            <a:endParaRPr lang="en-AU"/>
          </a:p>
        </p:txBody>
      </p:sp>
      <p:sp>
        <p:nvSpPr>
          <p:cNvPr id="8" name="TextBox 7" descr="CRICOS No. 00213J">
            <a:extLst>
              <a:ext uri="{FF2B5EF4-FFF2-40B4-BE49-F238E27FC236}">
                <a16:creationId xmlns:a16="http://schemas.microsoft.com/office/drawing/2014/main" id="{8973D823-06D3-10E5-A950-448EA203A97E}"/>
              </a:ext>
            </a:extLst>
          </p:cNvPr>
          <p:cNvSpPr txBox="1">
            <a:spLocks/>
          </p:cNvSpPr>
          <p:nvPr userDrawn="1"/>
        </p:nvSpPr>
        <p:spPr>
          <a:xfrm>
            <a:off x="8575210" y="6537960"/>
            <a:ext cx="3176015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600">
                <a:solidFill>
                  <a:schemeClr val="bg1">
                    <a:lumMod val="85000"/>
                  </a:schemeClr>
                </a:solidFill>
              </a:rPr>
              <a:t>TEQSA Provider ID PRV12079  Australian University | CRICOS No.00213J</a:t>
            </a:r>
          </a:p>
        </p:txBody>
      </p:sp>
    </p:spTree>
    <p:extLst>
      <p:ext uri="{BB962C8B-B14F-4D97-AF65-F5344CB8AC3E}">
        <p14:creationId xmlns:p14="http://schemas.microsoft.com/office/powerpoint/2010/main" val="76101305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7A58B-C86A-FD36-186B-F39534F88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45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2487F3-73DA-4656-84F8-1DE5A80C5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A0EA-FE24-441E-B009-2BD5DB9A9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00000"/>
            <a:ext cx="11232000" cy="396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521EC-3BCC-46AD-A4CB-4CEC78D8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6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2487F3-73DA-4656-84F8-1DE5A80C5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521EC-3BCC-46AD-A4CB-4CEC78D8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8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2487F3-73DA-4656-84F8-1DE5A80C5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2CD22-33AE-4E90-B69A-B116C67E322F}"/>
              </a:ext>
            </a:extLst>
          </p:cNvPr>
          <p:cNvSpPr/>
          <p:nvPr userDrawn="1"/>
        </p:nvSpPr>
        <p:spPr>
          <a:xfrm>
            <a:off x="0" y="5414211"/>
            <a:ext cx="12192000" cy="1443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91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CED1A86-7C00-4B5E-BF2D-030A391AC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A814E-6A9F-478A-8061-C5740CBC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537" y="1800000"/>
            <a:ext cx="5510463" cy="39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aseline="0">
                <a:solidFill>
                  <a:srgbClr val="00061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aseline="0">
                <a:solidFill>
                  <a:srgbClr val="00061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aseline="0">
                <a:solidFill>
                  <a:srgbClr val="00061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aseline="0">
                <a:solidFill>
                  <a:srgbClr val="00061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 baseline="0">
                <a:solidFill>
                  <a:srgbClr val="00061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8D85-19EE-40D8-B0FC-72738D139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0" y="1800000"/>
            <a:ext cx="5430253" cy="39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2BEA0-D192-4426-8039-EC7744257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707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B8D0A3-3636-4D52-A40A-89EB4432D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75947"/>
          </a:xfrm>
          <a:prstGeom prst="rect">
            <a:avLst/>
          </a:prstGeom>
          <a:solidFill>
            <a:srgbClr val="14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2487F3-73DA-4656-84F8-1DE5A80C5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A0EA-FE24-441E-B009-2BD5DB9A9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8000" y="1800000"/>
            <a:ext cx="11232000" cy="3960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521EC-3BCC-46AD-A4CB-4CEC78D8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7" name="TextBox 6" descr="CRICOS No. 00213J">
            <a:extLst>
              <a:ext uri="{FF2B5EF4-FFF2-40B4-BE49-F238E27FC236}">
                <a16:creationId xmlns:a16="http://schemas.microsoft.com/office/drawing/2014/main" id="{D5EC8957-644F-7081-47BC-8FC6DD56EE91}"/>
              </a:ext>
            </a:extLst>
          </p:cNvPr>
          <p:cNvSpPr txBox="1"/>
          <p:nvPr userDrawn="1"/>
        </p:nvSpPr>
        <p:spPr>
          <a:xfrm>
            <a:off x="345920" y="5861551"/>
            <a:ext cx="3101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600">
                <a:solidFill>
                  <a:schemeClr val="bg1">
                    <a:lumMod val="85000"/>
                  </a:schemeClr>
                </a:solidFill>
              </a:rPr>
              <a:t>TEQSA Provider ID PRV12079  Australian University | CRICOS No.00213J</a:t>
            </a:r>
          </a:p>
        </p:txBody>
      </p:sp>
    </p:spTree>
    <p:extLst>
      <p:ext uri="{BB962C8B-B14F-4D97-AF65-F5344CB8AC3E}">
        <p14:creationId xmlns:p14="http://schemas.microsoft.com/office/powerpoint/2010/main" val="134297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B8D0A3-3636-4D52-A40A-89EB4432D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75947"/>
          </a:xfrm>
          <a:prstGeom prst="rect">
            <a:avLst/>
          </a:prstGeom>
          <a:solidFill>
            <a:srgbClr val="6C98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2487F3-73DA-4656-84F8-1DE5A80C5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461" y="186179"/>
            <a:ext cx="657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DE2101-C65B-4E63-9A0E-F3BD87D4D20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A0EA-FE24-441E-B009-2BD5DB9A9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8000" y="1800000"/>
            <a:ext cx="11232000" cy="3960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521EC-3BCC-46AD-A4CB-4CEC78D8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7" name="TextBox 6" descr="CRICOS No. 00213J">
            <a:extLst>
              <a:ext uri="{FF2B5EF4-FFF2-40B4-BE49-F238E27FC236}">
                <a16:creationId xmlns:a16="http://schemas.microsoft.com/office/drawing/2014/main" id="{2AD86AC8-57CB-49F0-9D68-790A95C9000B}"/>
              </a:ext>
            </a:extLst>
          </p:cNvPr>
          <p:cNvSpPr txBox="1"/>
          <p:nvPr userDrawn="1"/>
        </p:nvSpPr>
        <p:spPr>
          <a:xfrm>
            <a:off x="345920" y="5861551"/>
            <a:ext cx="3101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600">
                <a:solidFill>
                  <a:schemeClr val="bg1">
                    <a:lumMod val="85000"/>
                  </a:schemeClr>
                </a:solidFill>
              </a:rPr>
              <a:t>TEQSA Provider ID PRV12079  Australian University | CRICOS No.00213J</a:t>
            </a:r>
          </a:p>
        </p:txBody>
      </p:sp>
    </p:spTree>
    <p:extLst>
      <p:ext uri="{BB962C8B-B14F-4D97-AF65-F5344CB8AC3E}">
        <p14:creationId xmlns:p14="http://schemas.microsoft.com/office/powerpoint/2010/main" val="301683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D9C7A-FB4B-4C32-BB94-381D14AD3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FD7735A-B7DA-4E07-A843-5FC5BA79A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947" y="4396382"/>
            <a:ext cx="7380287" cy="933450"/>
          </a:xfrm>
        </p:spPr>
        <p:txBody>
          <a:bodyPr/>
          <a:lstStyle>
            <a:lvl1pPr algn="l">
              <a:buNone/>
              <a:defRPr sz="1800">
                <a:solidFill>
                  <a:srgbClr val="14265E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chapter description here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52BC87-340E-4AA0-A72B-58BB011D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0864" y="2562385"/>
            <a:ext cx="7380370" cy="1833997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rgbClr val="14265E"/>
                </a:solidFill>
              </a:defRPr>
            </a:lvl1pPr>
          </a:lstStyle>
          <a:p>
            <a:r>
              <a:rPr lang="en-US"/>
              <a:t>Click to edit: Chapter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113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D9C7A-FB4B-4C32-BB94-381D14AD3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FD7735A-B7DA-4E07-A843-5FC5BA79A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947" y="4396382"/>
            <a:ext cx="7380287" cy="933450"/>
          </a:xfr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chapter description here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52BC87-340E-4AA0-A72B-58BB011D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0864" y="2562385"/>
            <a:ext cx="7380370" cy="1833997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edit: Chapter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093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D9C7A-FB4B-4C32-BB94-381D14AD3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FD7735A-B7DA-4E07-A843-5FC5BA79A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947" y="4396382"/>
            <a:ext cx="7380287" cy="933450"/>
          </a:xfr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chapter description here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52BC87-340E-4AA0-A72B-58BB011D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0864" y="2562385"/>
            <a:ext cx="7380370" cy="1833997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edit: Chapter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651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FD7735A-B7DA-4E07-A843-5FC5BA79A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947" y="4396382"/>
            <a:ext cx="7380287" cy="933450"/>
          </a:xfrm>
        </p:spPr>
        <p:txBody>
          <a:bodyPr/>
          <a:lstStyle>
            <a:lvl1pPr algn="l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>
              <a:buNone/>
              <a:defRPr sz="1800">
                <a:solidFill>
                  <a:schemeClr val="bg1"/>
                </a:solidFill>
                <a:latin typeface="+mn-lt"/>
              </a:defRPr>
            </a:lvl2pPr>
            <a:lvl3pPr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>
              <a:buNone/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edit: Add your </a:t>
            </a:r>
            <a:r>
              <a:rPr lang="en-AU"/>
              <a:t>chapter description here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52BC87-340E-4AA0-A72B-58BB011D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0864" y="2562385"/>
            <a:ext cx="7380370" cy="1833997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edit: Chapter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8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7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ransition spd="med">
    <p:fad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164C7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1C1C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rgbClr val="1C1C1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1C1C1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1C1C1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1C1C1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A6C89C-4BAB-AD96-23E9-5B177959A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080044"/>
            <a:ext cx="12192000" cy="777956"/>
          </a:xfrm>
          <a:prstGeom prst="rect">
            <a:avLst/>
          </a:prstGeom>
        </p:spPr>
      </p:pic>
      <p:sp>
        <p:nvSpPr>
          <p:cNvPr id="8" name="TextBox 7" descr="CRICOS No. 00213J">
            <a:extLst>
              <a:ext uri="{FF2B5EF4-FFF2-40B4-BE49-F238E27FC236}">
                <a16:creationId xmlns:a16="http://schemas.microsoft.com/office/drawing/2014/main" id="{D65D3AAA-41CE-C1C3-3510-BEEDA2C82BA8}"/>
              </a:ext>
            </a:extLst>
          </p:cNvPr>
          <p:cNvSpPr txBox="1"/>
          <p:nvPr userDrawn="1"/>
        </p:nvSpPr>
        <p:spPr>
          <a:xfrm>
            <a:off x="345920" y="5861551"/>
            <a:ext cx="3101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600">
                <a:solidFill>
                  <a:schemeClr val="bg1">
                    <a:lumMod val="65000"/>
                  </a:schemeClr>
                </a:solidFill>
              </a:rPr>
              <a:t>TEQSA Provider ID PRV12079  Australian University | CRICOS No.00213J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59168-7CBA-5E60-B77D-477E14476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45921" y="6228200"/>
            <a:ext cx="604992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12</a:t>
            </a:r>
          </a:p>
          <a:p>
            <a:r>
              <a:rPr lang="en-AU" sz="11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Kiara Mason (n11448733) and Alicia Larme (n11447401)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478D4A3-85E9-05D5-B24D-135AF541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800000"/>
            <a:ext cx="11232000" cy="39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A1B16F6-C5A6-A626-95D1-D4628E54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11232000" cy="13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35E796-A0B2-B4BF-BF24-1D6B35FC13E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4157" y="6238225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8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  <p:sldLayoutId id="2147483672" r:id="rId4"/>
    <p:sldLayoutId id="2147483652" r:id="rId5"/>
    <p:sldLayoutId id="2147483666" r:id="rId6"/>
    <p:sldLayoutId id="2147483667" r:id="rId7"/>
    <p:sldLayoutId id="2147483669" r:id="rId8"/>
    <p:sldLayoutId id="2147483673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4265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426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4265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4265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4265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4265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ADB43-CC86-EE35-7C01-6A61D340F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323" y="3287040"/>
            <a:ext cx="7277451" cy="190484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sz="7200" err="1"/>
              <a:t>SmartPark</a:t>
            </a:r>
            <a:r>
              <a:rPr lang="en-US" sz="7200"/>
              <a:t> </a:t>
            </a:r>
            <a:r>
              <a:rPr lang="en-US" sz="7200" err="1"/>
              <a:t>BlockChain</a:t>
            </a:r>
            <a:r>
              <a:rPr lang="en-US" sz="7200"/>
              <a:t>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EB3F6-FFA5-AD8C-7B7A-0D89A5EB205B}"/>
              </a:ext>
            </a:extLst>
          </p:cNvPr>
          <p:cNvSpPr txBox="1"/>
          <p:nvPr/>
        </p:nvSpPr>
        <p:spPr>
          <a:xfrm>
            <a:off x="657764" y="5191882"/>
            <a:ext cx="609456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>
                <a:solidFill>
                  <a:schemeClr val="bg1"/>
                </a:solidFill>
              </a:rPr>
              <a:t>Team Members: Kiara Mason (n11448733) </a:t>
            </a:r>
            <a:br>
              <a:rPr lang="en-AU">
                <a:solidFill>
                  <a:schemeClr val="bg1"/>
                </a:solidFill>
              </a:rPr>
            </a:br>
            <a:r>
              <a:rPr lang="en-AU">
                <a:solidFill>
                  <a:schemeClr val="bg1"/>
                </a:solidFill>
              </a:rPr>
              <a:t>                           Alicia Larme (n11447401)</a:t>
            </a:r>
            <a:br>
              <a:rPr lang="en-AU">
                <a:solidFill>
                  <a:schemeClr val="bg1"/>
                </a:solidFill>
              </a:rPr>
            </a:br>
            <a:r>
              <a:rPr lang="en-AU">
                <a:solidFill>
                  <a:schemeClr val="bg1"/>
                </a:solidFill>
              </a:rPr>
              <a:t> </a:t>
            </a:r>
          </a:p>
          <a:p>
            <a:r>
              <a:rPr lang="en-AU">
                <a:solidFill>
                  <a:schemeClr val="bg1"/>
                </a:solidFill>
                <a:cs typeface="Arial"/>
              </a:rPr>
              <a:t>Group number: 12</a:t>
            </a:r>
          </a:p>
        </p:txBody>
      </p:sp>
    </p:spTree>
    <p:extLst>
      <p:ext uri="{BB962C8B-B14F-4D97-AF65-F5344CB8AC3E}">
        <p14:creationId xmlns:p14="http://schemas.microsoft.com/office/powerpoint/2010/main" val="254599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F95F-467B-F807-B46D-93342D99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27" y="89909"/>
            <a:ext cx="11232000" cy="1332000"/>
          </a:xfrm>
        </p:spPr>
        <p:txBody>
          <a:bodyPr/>
          <a:lstStyle/>
          <a:p>
            <a:r>
              <a:rPr lang="en-US" dirty="0">
                <a:cs typeface="Arial"/>
              </a:rPr>
              <a:t>Project Overview – </a:t>
            </a:r>
            <a:r>
              <a:rPr lang="en-US" dirty="0" err="1">
                <a:cs typeface="Arial"/>
              </a:rPr>
              <a:t>SmartPark</a:t>
            </a:r>
            <a:r>
              <a:rPr lang="en-US" dirty="0"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D93DA-03B2-23FB-FAB1-221B6666D6FD}"/>
              </a:ext>
            </a:extLst>
          </p:cNvPr>
          <p:cNvSpPr txBox="1"/>
          <p:nvPr/>
        </p:nvSpPr>
        <p:spPr>
          <a:xfrm>
            <a:off x="236101" y="1194618"/>
            <a:ext cx="609230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cs typeface="Arial"/>
              </a:rPr>
              <a:t>SmartPark</a:t>
            </a:r>
            <a:r>
              <a:rPr lang="en-US" b="1" dirty="0">
                <a:cs typeface="Arial"/>
              </a:rPr>
              <a:t> Overview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Blockchain-based hotel parking management system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Allows users to search, book, and pay for parking spaces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Uses smart contracts to automate bookings and payments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Improves transparency, security, and trust between stakeholders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Reduces reliance on a </a:t>
            </a:r>
            <a:r>
              <a:rPr lang="en-US" dirty="0" err="1">
                <a:cs typeface="Arial"/>
              </a:rPr>
              <a:t>centralised</a:t>
            </a:r>
            <a:r>
              <a:rPr lang="en-US" dirty="0">
                <a:cs typeface="Arial"/>
              </a:rPr>
              <a:t> parking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F48A3-12F4-654D-539D-3759C4D15587}"/>
              </a:ext>
            </a:extLst>
          </p:cNvPr>
          <p:cNvSpPr txBox="1"/>
          <p:nvPr/>
        </p:nvSpPr>
        <p:spPr>
          <a:xfrm>
            <a:off x="236101" y="4186054"/>
            <a:ext cx="57331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Why Use Blockchain?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Multiple stakeholders interacting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Shared transaction records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Smart contract automation 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cs typeface="Arial"/>
              </a:rPr>
              <a:t>Decentralised</a:t>
            </a:r>
            <a:r>
              <a:rPr lang="en-US" dirty="0">
                <a:cs typeface="Arial"/>
              </a:rPr>
              <a:t> and transparent system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Easily trace bookings and parking spot availabilities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CCC7C9-A296-7B39-8E6A-6D51A25C5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683" y="1599337"/>
            <a:ext cx="2608273" cy="517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BC8F536-4B27-F138-CEB7-2D6ECE460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596" y="2070258"/>
            <a:ext cx="2057477" cy="469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372D6D8-4A85-A667-DE8E-378378ECD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16"/>
          <a:stretch>
            <a:fillRect/>
          </a:stretch>
        </p:blipFill>
        <p:spPr bwMode="auto">
          <a:xfrm>
            <a:off x="8510628" y="89909"/>
            <a:ext cx="3552445" cy="193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7F9F80-59F2-C846-8E52-C52E6AEBD52B}"/>
              </a:ext>
            </a:extLst>
          </p:cNvPr>
          <p:cNvSpPr txBox="1"/>
          <p:nvPr/>
        </p:nvSpPr>
        <p:spPr>
          <a:xfrm>
            <a:off x="7248514" y="1459574"/>
            <a:ext cx="1749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cs typeface="Arial"/>
              </a:rPr>
              <a:t>Parking User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FB887-14F1-5F30-954A-E9FE570D2919}"/>
              </a:ext>
            </a:extLst>
          </p:cNvPr>
          <p:cNvSpPr txBox="1"/>
          <p:nvPr/>
        </p:nvSpPr>
        <p:spPr>
          <a:xfrm>
            <a:off x="10005596" y="2021451"/>
            <a:ext cx="1749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cs typeface="Arial"/>
              </a:rPr>
              <a:t>Parking Manager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6636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5906-D72A-C748-522D-739F79D5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69" y="-51465"/>
            <a:ext cx="11232000" cy="1332000"/>
          </a:xfrm>
        </p:spPr>
        <p:txBody>
          <a:bodyPr/>
          <a:lstStyle/>
          <a:p>
            <a:r>
              <a:rPr lang="en-US" dirty="0">
                <a:cs typeface="Arial"/>
              </a:rPr>
              <a:t> Stakeholders            Smart Contracts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F2FB5-9CF7-E1E7-B965-BAE225C0BB7A}"/>
              </a:ext>
            </a:extLst>
          </p:cNvPr>
          <p:cNvSpPr txBox="1"/>
          <p:nvPr/>
        </p:nvSpPr>
        <p:spPr>
          <a:xfrm>
            <a:off x="0" y="2519080"/>
            <a:ext cx="5856270" cy="34470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b="1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cs typeface="Arial"/>
              </a:rPr>
              <a:t>Parking Space Provider: </a:t>
            </a:r>
            <a:r>
              <a:rPr lang="en-US" sz="1600" dirty="0">
                <a:cs typeface="Arial"/>
              </a:rPr>
              <a:t> Supplies, registers and manages parking spaces on the </a:t>
            </a:r>
            <a:r>
              <a:rPr lang="en-US" sz="1600" dirty="0" err="1">
                <a:cs typeface="Arial"/>
              </a:rPr>
              <a:t>SmartPark</a:t>
            </a:r>
            <a:r>
              <a:rPr lang="en-US" sz="1600" dirty="0">
                <a:cs typeface="Arial"/>
              </a:rPr>
              <a:t> application. Includes updating availability and pricing information. 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cs typeface="Arial"/>
              </a:rPr>
              <a:t>Parking User:</a:t>
            </a:r>
            <a:r>
              <a:rPr lang="en-US" sz="1600" dirty="0">
                <a:cs typeface="Arial"/>
              </a:rPr>
              <a:t>  Searches, books and pays for parking spaces through blockchain-based booking and payment transactions.  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cs typeface="Arial"/>
              </a:rPr>
              <a:t>Blockchain System: </a:t>
            </a:r>
            <a:r>
              <a:rPr lang="en-US" sz="1600" dirty="0">
                <a:cs typeface="Arial"/>
              </a:rPr>
              <a:t>A </a:t>
            </a:r>
            <a:r>
              <a:rPr lang="en-US" sz="1600" dirty="0" err="1">
                <a:cs typeface="Arial"/>
              </a:rPr>
              <a:t>decentralised</a:t>
            </a:r>
            <a:r>
              <a:rPr lang="en-US" sz="1600" dirty="0">
                <a:cs typeface="Arial"/>
              </a:rPr>
              <a:t> blockchain application that validates, records and stores booking, parking and payment transactions securely through smart contracts.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58838-034B-11FB-995B-4F69024CD4FF}"/>
              </a:ext>
            </a:extLst>
          </p:cNvPr>
          <p:cNvSpPr txBox="1"/>
          <p:nvPr/>
        </p:nvSpPr>
        <p:spPr>
          <a:xfrm>
            <a:off x="5732980" y="2482694"/>
            <a:ext cx="6311844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Arial"/>
              </a:rPr>
              <a:t>ParkingSpaceManagement</a:t>
            </a:r>
            <a:r>
              <a:rPr lang="en-US" sz="1600" b="1" dirty="0">
                <a:cs typeface="Arial"/>
              </a:rPr>
              <a:t> Contract: </a:t>
            </a:r>
            <a:r>
              <a:rPr lang="en-US" sz="1600" dirty="0">
                <a:cs typeface="Arial"/>
              </a:rPr>
              <a:t>Manages registration and maintenance of parking spaces. Can create, update, delete and manage parking spaces availability, pricing and location </a:t>
            </a:r>
          </a:p>
          <a:p>
            <a:endParaRPr lang="en-US" sz="1600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Arial"/>
              </a:rPr>
              <a:t>BookingAndPayment</a:t>
            </a:r>
            <a:r>
              <a:rPr lang="en-US" sz="1600" b="1" dirty="0">
                <a:cs typeface="Arial"/>
              </a:rPr>
              <a:t> Contract: </a:t>
            </a:r>
            <a:r>
              <a:rPr lang="en-US" sz="1600" dirty="0">
                <a:cs typeface="Arial"/>
              </a:rPr>
              <a:t>Handles the parking reservation and payment process between parking users and parking providers. Users can create, confirm, cancel, and complete bookings while securely processing payments, refunds, and payment release</a:t>
            </a:r>
          </a:p>
          <a:p>
            <a:endParaRPr lang="en-US" sz="1600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Arial"/>
              </a:rPr>
              <a:t>Interaction: </a:t>
            </a:r>
            <a:r>
              <a:rPr lang="en-US" sz="1600" dirty="0">
                <a:cs typeface="Arial"/>
              </a:rPr>
              <a:t>The </a:t>
            </a:r>
            <a:r>
              <a:rPr lang="en-US" sz="1600" dirty="0" err="1">
                <a:cs typeface="Arial"/>
              </a:rPr>
              <a:t>BookingAndPayment</a:t>
            </a:r>
            <a:r>
              <a:rPr lang="en-US" sz="1600" dirty="0">
                <a:cs typeface="Arial"/>
              </a:rPr>
              <a:t> contract interacts with the </a:t>
            </a:r>
            <a:r>
              <a:rPr lang="en-US" sz="1600" dirty="0" err="1">
                <a:cs typeface="Arial"/>
              </a:rPr>
              <a:t>ParkingSpaceManagement</a:t>
            </a:r>
            <a:r>
              <a:rPr lang="en-US" sz="1600" dirty="0">
                <a:cs typeface="Arial"/>
              </a:rPr>
              <a:t> contract to verify parking space availability before confirming a booking. </a:t>
            </a:r>
          </a:p>
          <a:p>
            <a:endParaRPr lang="en-US" sz="1600" dirty="0">
              <a:cs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BEE166-2A9D-43CD-C231-A80CD15D4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421" y="891822"/>
            <a:ext cx="1994325" cy="199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320E6E1-9490-A417-1C1D-E6A20B49EA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6" t="13004" r="8308" b="11318"/>
          <a:stretch>
            <a:fillRect/>
          </a:stretch>
        </p:blipFill>
        <p:spPr bwMode="auto">
          <a:xfrm>
            <a:off x="7577142" y="857682"/>
            <a:ext cx="2109811" cy="200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82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20A3-F764-AA32-46F6-6C9EB215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D6E3-9BC2-AA0E-23B3-9CB95C09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Smart Contracts Interactions</a:t>
            </a:r>
            <a:endParaRPr lang="en-US"/>
          </a:p>
        </p:txBody>
      </p:sp>
      <p:pic>
        <p:nvPicPr>
          <p:cNvPr id="6" name="Picture 5" descr="A diagram of parking system&#10;&#10;AI-generated content may be incorrect.">
            <a:extLst>
              <a:ext uri="{FF2B5EF4-FFF2-40B4-BE49-F238E27FC236}">
                <a16:creationId xmlns:a16="http://schemas.microsoft.com/office/drawing/2014/main" id="{1F0B53A2-5DFD-5D8D-A65D-1782BDAC4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1" y="1486243"/>
            <a:ext cx="6262301" cy="4370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C42D4-CF5D-ACA8-5CB7-476BBC84E99A}"/>
              </a:ext>
            </a:extLst>
          </p:cNvPr>
          <p:cNvSpPr txBox="1"/>
          <p:nvPr/>
        </p:nvSpPr>
        <p:spPr>
          <a:xfrm>
            <a:off x="6555776" y="1408042"/>
            <a:ext cx="48895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Key Interactions: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Parking Space Provider interacts with the </a:t>
            </a:r>
            <a:r>
              <a:rPr lang="en-US" dirty="0" err="1">
                <a:cs typeface="Arial"/>
              </a:rPr>
              <a:t>ParkingSpaceManagement</a:t>
            </a:r>
            <a:r>
              <a:rPr lang="en-US" dirty="0">
                <a:cs typeface="Arial"/>
              </a:rPr>
              <a:t> contract to create, update, and manage parking spaces.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Parking User interacts with the </a:t>
            </a:r>
            <a:r>
              <a:rPr lang="en-US" dirty="0" err="1">
                <a:cs typeface="Arial"/>
              </a:rPr>
              <a:t>BookingAndPayment</a:t>
            </a:r>
            <a:r>
              <a:rPr lang="en-US" dirty="0">
                <a:cs typeface="Arial"/>
              </a:rPr>
              <a:t> contract to create bookings, make payments and cancel bookings. 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cs typeface="Arial"/>
              </a:rPr>
              <a:t>BookingAndPayment</a:t>
            </a:r>
            <a:r>
              <a:rPr lang="en-US" dirty="0">
                <a:cs typeface="Arial"/>
              </a:rPr>
              <a:t> checks parking space </a:t>
            </a:r>
            <a:r>
              <a:rPr lang="en-US" dirty="0" err="1">
                <a:cs typeface="Arial"/>
              </a:rPr>
              <a:t>availiability</a:t>
            </a:r>
            <a:r>
              <a:rPr lang="en-US" dirty="0">
                <a:cs typeface="Arial"/>
              </a:rPr>
              <a:t> through </a:t>
            </a:r>
            <a:r>
              <a:rPr lang="en-US" dirty="0" err="1">
                <a:cs typeface="Arial"/>
              </a:rPr>
              <a:t>ParkingSpaceManagement</a:t>
            </a:r>
            <a:r>
              <a:rPr lang="en-US" dirty="0">
                <a:cs typeface="Arial"/>
              </a:rPr>
              <a:t> before confirming a booking.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Once a booking is confirmed or cancelled, the availability status is updated on the blockchain. </a:t>
            </a:r>
          </a:p>
        </p:txBody>
      </p:sp>
    </p:spTree>
    <p:extLst>
      <p:ext uri="{BB962C8B-B14F-4D97-AF65-F5344CB8AC3E}">
        <p14:creationId xmlns:p14="http://schemas.microsoft.com/office/powerpoint/2010/main" val="340002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08A85-4F0F-685B-26C8-CDF87FC5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65" y="-155914"/>
            <a:ext cx="11232000" cy="1332000"/>
          </a:xfrm>
        </p:spPr>
        <p:txBody>
          <a:bodyPr/>
          <a:lstStyle/>
          <a:p>
            <a:r>
              <a:rPr lang="en-US" dirty="0">
                <a:cs typeface="Arial"/>
              </a:rPr>
              <a:t>Business Process Model Specification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DE1E1-B139-2355-90ED-6A1F96AE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5" y="825366"/>
            <a:ext cx="11087670" cy="520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0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A6C-C15C-2499-234F-29A41763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7" y="132022"/>
            <a:ext cx="11232000" cy="1332000"/>
          </a:xfrm>
        </p:spPr>
        <p:txBody>
          <a:bodyPr/>
          <a:lstStyle/>
          <a:p>
            <a:r>
              <a:rPr lang="en-US" dirty="0">
                <a:cs typeface="Arial"/>
              </a:rPr>
              <a:t>Design Considerations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DA826-D673-CA39-3119-EBCC06BB130C}"/>
              </a:ext>
            </a:extLst>
          </p:cNvPr>
          <p:cNvSpPr txBox="1"/>
          <p:nvPr/>
        </p:nvSpPr>
        <p:spPr>
          <a:xfrm>
            <a:off x="117011" y="1398388"/>
            <a:ext cx="6676563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cs typeface="Arial"/>
              </a:rPr>
              <a:t>Back-End Considerations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Creating parking space and booking functionality allows for two smart contracts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Role-based access – only parking manager can perform functionalities in the </a:t>
            </a:r>
            <a:r>
              <a:rPr lang="en-US" sz="1600" dirty="0" err="1">
                <a:cs typeface="Arial"/>
              </a:rPr>
              <a:t>ParkManagement</a:t>
            </a:r>
            <a:r>
              <a:rPr lang="en-US" sz="1600" dirty="0">
                <a:cs typeface="Arial"/>
              </a:rPr>
              <a:t> contract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Spaces are marked as available upon creation and given their own unique ID</a:t>
            </a:r>
          </a:p>
          <a:p>
            <a:pPr marL="285750" indent="-285750">
              <a:buFont typeface="Arial"/>
              <a:buChar char="•"/>
            </a:pPr>
            <a:r>
              <a:rPr lang="en-AU" sz="1600" dirty="0"/>
              <a:t>Availability of a spot is automatically updated to false whenever a bookings are made and true when bookings are cancelled</a:t>
            </a:r>
            <a:endParaRPr lang="en-US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Valiadation checks prevent inaccuracies around parking spaces, bookings or </a:t>
            </a:r>
            <a:r>
              <a:rPr lang="en-US" sz="1600" dirty="0" err="1">
                <a:cs typeface="Arial"/>
              </a:rPr>
              <a:t>unauthoriesd</a:t>
            </a:r>
            <a:r>
              <a:rPr lang="en-US" sz="1600" dirty="0">
                <a:cs typeface="Arial"/>
              </a:rPr>
              <a:t> updates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9357C-92A1-0D52-8DA9-DBC63617A409}"/>
              </a:ext>
            </a:extLst>
          </p:cNvPr>
          <p:cNvSpPr txBox="1"/>
          <p:nvPr/>
        </p:nvSpPr>
        <p:spPr>
          <a:xfrm>
            <a:off x="132087" y="4213319"/>
            <a:ext cx="5266341" cy="18466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cs typeface="Arial"/>
              </a:rPr>
              <a:t>Front-End Considerations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The front-end displays only available parking spaces when selecting spaces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Simple and user-friendly interface for greater ease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cs typeface="Arial"/>
              </a:rPr>
              <a:t>Include transaction status updates so users know whether they are are pending, successful or failed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6BAED-C760-67DE-8AEF-7934D3213A79}"/>
              </a:ext>
            </a:extLst>
          </p:cNvPr>
          <p:cNvSpPr txBox="1"/>
          <p:nvPr/>
        </p:nvSpPr>
        <p:spPr>
          <a:xfrm>
            <a:off x="7137455" y="3980888"/>
            <a:ext cx="44781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cs typeface="Arial"/>
              </a:rPr>
              <a:t>Challenges: Logic of system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Parking space availability is a </a:t>
            </a:r>
            <a:r>
              <a:rPr lang="en-US" dirty="0" err="1">
                <a:cs typeface="Arial"/>
              </a:rPr>
              <a:t>boolean</a:t>
            </a:r>
            <a:r>
              <a:rPr lang="en-US" dirty="0">
                <a:cs typeface="Arial"/>
              </a:rPr>
              <a:t> showing current state as available (True) or unavailable (False)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cs typeface="Arial"/>
              </a:rPr>
              <a:t>Prevents overlap in bookings and inaccuracies in parking availabilities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E1D29E-2917-C1C7-25B9-0B01E724E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55" y="471512"/>
            <a:ext cx="4562545" cy="316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44EF-8BF3-B5DA-2653-5AF59FD2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5770"/>
            <a:ext cx="11232000" cy="1332000"/>
          </a:xfrm>
        </p:spPr>
        <p:txBody>
          <a:bodyPr/>
          <a:lstStyle/>
          <a:p>
            <a:r>
              <a:rPr lang="en-US" dirty="0">
                <a:cs typeface="Arial"/>
              </a:rPr>
              <a:t>Methodology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7AE1F-D16C-8C44-33B9-70F0AA773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169" y="160020"/>
            <a:ext cx="8413553" cy="59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50764"/>
      </p:ext>
    </p:extLst>
  </p:cSld>
  <p:clrMapOvr>
    <a:masterClrMapping/>
  </p:clrMapOvr>
</p:sld>
</file>

<file path=ppt/theme/theme1.xml><?xml version="1.0" encoding="utf-8"?>
<a:theme xmlns:a="http://schemas.openxmlformats.org/drawingml/2006/main" name="QUT title page">
  <a:themeElements>
    <a:clrScheme name="QUT 2025">
      <a:dk1>
        <a:srgbClr val="14265E"/>
      </a:dk1>
      <a:lt1>
        <a:srgbClr val="FFFFFF"/>
      </a:lt1>
      <a:dk2>
        <a:srgbClr val="24449A"/>
      </a:dk2>
      <a:lt2>
        <a:srgbClr val="F2EDE5"/>
      </a:lt2>
      <a:accent1>
        <a:srgbClr val="6C98C7"/>
      </a:accent1>
      <a:accent2>
        <a:srgbClr val="8CC7EA"/>
      </a:accent2>
      <a:accent3>
        <a:srgbClr val="65C5E9"/>
      </a:accent3>
      <a:accent4>
        <a:srgbClr val="D3EFFC"/>
      </a:accent4>
      <a:accent5>
        <a:srgbClr val="000869"/>
      </a:accent5>
      <a:accent6>
        <a:srgbClr val="24449A"/>
      </a:accent6>
      <a:hlink>
        <a:srgbClr val="24449A"/>
      </a:hlink>
      <a:folHlink>
        <a:srgbClr val="0A15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T_PowerPoint Template_v03" id="{6041C796-EB6C-FC4F-9603-C3273965CF03}" vid="{2E55ED66-9E09-8E4F-9907-26F64BC45039}"/>
    </a:ext>
  </a:extLst>
</a:theme>
</file>

<file path=ppt/theme/theme2.xml><?xml version="1.0" encoding="utf-8"?>
<a:theme xmlns:a="http://schemas.openxmlformats.org/drawingml/2006/main" name="Custom Design">
  <a:themeElements>
    <a:clrScheme name="QUT 2025">
      <a:dk1>
        <a:srgbClr val="14265E"/>
      </a:dk1>
      <a:lt1>
        <a:srgbClr val="FFFFFF"/>
      </a:lt1>
      <a:dk2>
        <a:srgbClr val="24449A"/>
      </a:dk2>
      <a:lt2>
        <a:srgbClr val="F2EDE5"/>
      </a:lt2>
      <a:accent1>
        <a:srgbClr val="6C98C7"/>
      </a:accent1>
      <a:accent2>
        <a:srgbClr val="8CC7EA"/>
      </a:accent2>
      <a:accent3>
        <a:srgbClr val="65C5E9"/>
      </a:accent3>
      <a:accent4>
        <a:srgbClr val="D3EFFC"/>
      </a:accent4>
      <a:accent5>
        <a:srgbClr val="000869"/>
      </a:accent5>
      <a:accent6>
        <a:srgbClr val="24449A"/>
      </a:accent6>
      <a:hlink>
        <a:srgbClr val="24449A"/>
      </a:hlink>
      <a:folHlink>
        <a:srgbClr val="0A15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UT_PowerPoint Template_v03" id="{6041C796-EB6C-FC4F-9603-C3273965CF03}" vid="{80FD4DC3-70A2-1141-A74C-68F11BEF3C1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0F88029305344B4EE7A456A7E05EA" ma:contentTypeVersion="4" ma:contentTypeDescription="Create a new document." ma:contentTypeScope="" ma:versionID="8461ca7a6111baf2983cfccd359c3640">
  <xsd:schema xmlns:xsd="http://www.w3.org/2001/XMLSchema" xmlns:xs="http://www.w3.org/2001/XMLSchema" xmlns:p="http://schemas.microsoft.com/office/2006/metadata/properties" xmlns:ns2="07ef76e7-57fb-44c7-add5-4a78842c8a06" targetNamespace="http://schemas.microsoft.com/office/2006/metadata/properties" ma:root="true" ma:fieldsID="d1133f3dd04ef6093b8fd2d503ab422d" ns2:_="">
    <xsd:import namespace="07ef76e7-57fb-44c7-add5-4a78842c8a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f76e7-57fb-44c7-add5-4a78842c8a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9F0A16-D915-4611-A39C-4796DEB1FB56}">
  <ds:schemaRefs>
    <ds:schemaRef ds:uri="07ef76e7-57fb-44c7-add5-4a78842c8a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00B165-FC00-4FEC-9B79-30EE2551B58C}">
  <ds:schemaRefs>
    <ds:schemaRef ds:uri="07ef76e7-57fb-44c7-add5-4a78842c8a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D20736A-7DCA-4606-8826-26B1ADA652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wk 11 progress</Template>
  <TotalTime>747</TotalTime>
  <Words>469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QUT title page</vt:lpstr>
      <vt:lpstr>Custom Design</vt:lpstr>
      <vt:lpstr>SmartPark BlockChain Project</vt:lpstr>
      <vt:lpstr>Project Overview – SmartPark </vt:lpstr>
      <vt:lpstr> Stakeholders            Smart Contracts</vt:lpstr>
      <vt:lpstr>Smart Contracts Interactions</vt:lpstr>
      <vt:lpstr>Business Process Model Specification</vt:lpstr>
      <vt:lpstr>Design Considerations</vt:lpstr>
      <vt:lpstr>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Alicia Larme</dc:creator>
  <cp:keywords/>
  <dc:description/>
  <cp:lastModifiedBy>Kiara Mason</cp:lastModifiedBy>
  <cp:revision>101</cp:revision>
  <dcterms:created xsi:type="dcterms:W3CDTF">2026-05-10T02:37:47Z</dcterms:created>
  <dcterms:modified xsi:type="dcterms:W3CDTF">2026-05-15T10:49:56Z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0x010100CCB0F88029305344B4EE7A456A7E05EA</vt:lpwstr>
  </property>
</Properties>
</file>